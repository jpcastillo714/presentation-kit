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charla de diez minutos para cualquier reunión donde se reporten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la sala piense un segundo qué forma tienen estos datos antes de pasar.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es lo que esperamos. II es una curva. III es una recta con un punto fuera. IV no tiene relación: un solo punto la fabrica.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pregunta no es «¿qué tan alto es r?», sino «¿qué forma tienen los datos?».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borrar un atípico hay que entenderlo: puede ser un error o el dato más interesante.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quitamos ese punto, la recta ni siquiera se puede calcular: todos los x son iguales.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diapositiva que la gente se lleva. Cerrar preguntando qué métrica reportamos sin graficar.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574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0"/>
              </a:spcAft>
            </a:pPr>
            <a:r>
              <a:rPr sz="4200" b="1">
                <a:solidFill>
                  <a:srgbClr val="1C2127"/>
                </a:solidFill>
                <a:latin typeface="Cambria"/>
              </a:rPr>
              <a:t>Cuatro conjuntos de datos con la misma estadística y cuatro historias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290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5B6570"/>
                </a:solidFill>
                <a:latin typeface="Segoe UI"/>
              </a:rPr>
              <a:t>Por qué hay que graficar antes de resumir: el cuarteto de Anscombe (1973)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4924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5B6570"/>
                </a:solidFill>
                <a:latin typeface="Segoe UI"/>
              </a:rPr>
              <a:t>kit-presentaciones · ejemplo sobrio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Los cuatro conjuntos tienen la misma media, varianza, correlación y recta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5080000" cy="4445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5040"/>
              </a:spcAft>
            </a:pPr>
            <a:r>
              <a:rPr sz="8400" b="1">
                <a:solidFill>
                  <a:srgbClr val="1F5F8B"/>
                </a:solidFill>
                <a:latin typeface="Cambria"/>
              </a:rPr>
              <a:t>r = 0,816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3000" y="1714500"/>
            <a:ext cx="5207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1C2127"/>
                </a:solidFill>
                <a:latin typeface="Segoe UI"/>
              </a:rPr>
              <a:t>En los cuatro: media de x </a:t>
            </a:r>
            <a:r>
              <a:rPr sz="1900" b="1">
                <a:solidFill>
                  <a:srgbClr val="1F5F8B"/>
                </a:solidFill>
                <a:latin typeface="Segoe UI"/>
              </a:rPr>
              <a:t>9</a:t>
            </a:r>
            <a:r>
              <a:rPr sz="1900" b="0">
                <a:solidFill>
                  <a:srgbClr val="1C2127"/>
                </a:solidFill>
                <a:latin typeface="Segoe UI"/>
              </a:rPr>
              <a:t>, varianza de x </a:t>
            </a:r>
            <a:r>
              <a:rPr sz="1900" b="1">
                <a:solidFill>
                  <a:srgbClr val="1F5F8B"/>
                </a:solidFill>
                <a:latin typeface="Segoe UI"/>
              </a:rPr>
              <a:t>11</a:t>
            </a:r>
            <a:r>
              <a:rPr sz="1900" b="0">
                <a:solidFill>
                  <a:srgbClr val="1C2127"/>
                </a:solidFill>
                <a:latin typeface="Segoe UI"/>
              </a:rPr>
              <a:t>, media de y </a:t>
            </a:r>
            <a:r>
              <a:rPr sz="1900" b="1">
                <a:solidFill>
                  <a:srgbClr val="1F5F8B"/>
                </a:solidFill>
                <a:latin typeface="Segoe UI"/>
              </a:rPr>
              <a:t>7,50</a:t>
            </a:r>
            <a:r>
              <a:rPr sz="1900" b="0">
                <a:solidFill>
                  <a:srgbClr val="1C2127"/>
                </a:solidFill>
                <a:latin typeface="Segoe UI"/>
              </a:rPr>
              <a:t>, varianza de y </a:t>
            </a:r>
            <a:r>
              <a:rPr sz="1900" b="1">
                <a:solidFill>
                  <a:srgbClr val="1F5F8B"/>
                </a:solidFill>
                <a:latin typeface="Segoe UI"/>
              </a:rPr>
              <a:t>4,12</a:t>
            </a:r>
            <a:r>
              <a:rPr sz="1900" b="0">
                <a:solidFill>
                  <a:srgbClr val="1C2127"/>
                </a:solidFill>
                <a:latin typeface="Segoe UI"/>
              </a:rPr>
              <a:t> y recta de ajuste </a:t>
            </a:r>
            <a:r>
              <a:rPr sz="1900" b="1">
                <a:solidFill>
                  <a:srgbClr val="1F5F8B"/>
                </a:solidFill>
                <a:latin typeface="Segoe UI"/>
              </a:rPr>
              <a:t>y = 3,00 + 0,500 x</a:t>
            </a:r>
            <a:r>
              <a:rPr sz="1900" b="0">
                <a:solidFill>
                  <a:srgbClr val="1C2127"/>
                </a:solidFill>
                <a:latin typeface="Segoe UI"/>
              </a:rPr>
              <a:t>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1C2127"/>
                </a:solidFill>
                <a:latin typeface="Segoe UI"/>
              </a:rPr>
              <a:t>Si solo miráramos esta tabla, diríamos que son el mismo fenómeno.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Anscombe, F. J. (1973), The American Statistician 27(1), 17–21. Cálculo propio en figuras/hacer_figuras.py.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Graficados, son cuatro historias distintas</a:t>
            </a:r>
          </a:p>
        </p:txBody>
      </p:sp>
      <p:pic>
        <p:nvPicPr>
          <p:cNvPr id="3" name="Picture 2" descr="cua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81379"/>
            <a:ext cx="10668000" cy="3511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 (1973). Los cuatro paneles comparten ejes; la línea gris es la misma recta en todos.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En el II los datos son una curva: la recta es el modelo equivocado</a:t>
            </a:r>
          </a:p>
        </p:txBody>
      </p:sp>
      <p:pic>
        <p:nvPicPr>
          <p:cNvPr id="3" name="Picture 2" descr="panel_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Una parábola los describe casi exactamente.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La correlación de 0,816 mide qué tan bien se ajusta una recta, no si la recta es el modelo correcto.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 (1973); ajuste cuadrático propio.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En el III un solo punto tuerce la recta: sin él, los datos están perfectamente alineados</a:t>
            </a:r>
          </a:p>
        </p:txBody>
      </p:sp>
      <p:pic>
        <p:nvPicPr>
          <p:cNvPr id="3" name="Picture 2" descr="panel_I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Sin el punto destacado, la correlación es </a:t>
            </a:r>
            <a:r>
              <a:rPr sz="1700" b="1">
                <a:solidFill>
                  <a:srgbClr val="1F5F8B"/>
                </a:solidFill>
                <a:latin typeface="Segoe UI"/>
              </a:rPr>
              <a:t>1,000</a:t>
            </a:r>
            <a:r>
              <a:rPr sz="1700" b="0">
                <a:solidFill>
                  <a:srgbClr val="1C2127"/>
                </a:solidFill>
                <a:latin typeface="Segoe UI"/>
              </a:rPr>
              <a:t> y la recta pasa a y = 4,01 + 0,345 x.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Un atípico basta para cambiar la pendiente que reportamos.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 (1973); ajuste sin el punto atípico, cálculo propio.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En el IV no hay relación: un solo punto fabrica toda la correlación</a:t>
            </a:r>
          </a:p>
        </p:txBody>
      </p:sp>
      <p:pic>
        <p:nvPicPr>
          <p:cNvPr id="3" name="Picture 2" descr="panel_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Diez de los once puntos tienen la misma x. El único distinto decide la recta entera.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 (1973).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Antes de reportar una métrica, grafica los datos y los residuos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Grafica la distribución,</a:t>
            </a:r>
            <a:r>
              <a:rPr sz="2100" b="0">
                <a:solidFill>
                  <a:srgbClr val="1C2127"/>
                </a:solidFill>
                <a:latin typeface="Segoe UI"/>
              </a:rPr>
              <a:t> no solo el promedio: puntos o cajas por grupo (Tukey).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Grafica los residuos</a:t>
            </a:r>
            <a:r>
              <a:rPr sz="2100" b="0">
                <a:solidFill>
                  <a:srgbClr val="1C2127"/>
                </a:solidFill>
                <a:latin typeface="Segoe UI"/>
              </a:rPr>
              <a:t> de cada ajuste: ahí aparecen la curva del II y el atípico del III.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Mira cada punto que domina</a:t>
            </a:r>
            <a:r>
              <a:rPr sz="2100" b="0">
                <a:solidFill>
                  <a:srgbClr val="1C2127"/>
                </a:solidFill>
                <a:latin typeface="Segoe UI"/>
              </a:rPr>
              <a:t> el resultado antes de creerle a la cifra.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 (1973); Wickham y Stryjewski, «40 years of boxplots» (2011).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Anscombe, F. J. (1973). Graphs in Statistical Analysis. The American Statistician 27(1), 17–21. DOI 10.1080/00031305.1973.10478966.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Wickham, H. y Stryjewski, L. (2011). 40 years of boxplots. https://vita.had.co.nz/papers/boxplots.pdf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Datos y cálculos: figuras/hacer_figuras.py (comprueba la estadística antes de graficar).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570"/>
                </a:solidFill>
                <a:latin typeface="Segoe UI"/>
              </a:rPr>
              <a:t>ANEXO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Cuatro conjuntos de datos con la misma estadística y cuatro historias distintas</dc:title>
  <dc:subject/>
  <dc:creator>kit-presentaciones · ejemplo sobrio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