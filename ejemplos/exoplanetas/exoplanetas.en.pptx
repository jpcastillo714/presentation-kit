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background spectrum sways: this is, greatly exaggerated, a star moving towards and away from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a Jupiter-sized planet: the star loses 1 % of its light. Next, an Earth-sized one: 84 parts per million, and the vertical scale changes so it can be seen.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the star also orbits the center of mass. Step 2: seen edge-on, it approaches and recedes. Step 3: the spectral lines shift to the blue and the red at the same 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how centimeters per second are measured: no single line is enough, but thousands together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four slides in motion, a still one: this is where it all comes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Jupiter on both scales; next, Earth slides to its place and the ratio for each signal 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guion.en.md next to the deck to show that the content is just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057400"/>
            <a:ext cx="106680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20"/>
              </a:spcAft>
            </a:pPr>
            <a:r>
              <a:rPr sz="4200" b="1">
                <a:solidFill>
                  <a:srgbClr val="EEF2F7"/>
                </a:solidFill>
                <a:latin typeface="Cambria"/>
              </a:rPr>
              <a:t>How to find a planet you cannot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152900"/>
            <a:ext cx="10668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9AA8BA"/>
                </a:solidFill>
                <a:latin typeface="Calibri"/>
              </a:rPr>
              <a:t>Two tiny signals: the shadow and the wobble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349240"/>
            <a:ext cx="1066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</a:pPr>
            <a:r>
              <a:rPr sz="1400" b="0">
                <a:solidFill>
                  <a:srgbClr val="9AA8BA"/>
                </a:solidFill>
                <a:latin typeface="Calibri"/>
              </a:rPr>
              <a:t>kit-presentaciones · expressive example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When a planet passes in front, its star dims a little</a:t>
            </a:r>
          </a:p>
        </p:txBody>
      </p:sp>
      <p:pic>
        <p:nvPicPr>
          <p:cNvPr id="3" name="Picture 2" descr="estatico_transito.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889" y="1714500"/>
            <a:ext cx="7902222" cy="444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9AA8BA"/>
                </a:solidFill>
                <a:latin typeface="Calibri"/>
              </a:rPr>
              <a:t>Source: Depth = (R_planet / R_star)², with IAU (2015) nominal radii: Jupiter in front of the Sun, 1.06 %; Earth, 84 ppm. No limb darkening; Earth's size not to scale in the curve.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The star wobbles too: Earth moves the Sun by only 9 cm/s</a:t>
            </a:r>
          </a:p>
        </p:txBody>
      </p:sp>
      <p:pic>
        <p:nvPicPr>
          <p:cNvPr id="3" name="Picture 2" descr="estatico_orbita.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889" y="1714500"/>
            <a:ext cx="7902222" cy="444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9AA8BA"/>
                </a:solidFill>
                <a:latin typeface="Calibri"/>
              </a:rPr>
              <a:t>Source: Kepler's third law, circular orbit: Earth induces 8.9 cm/s on the Sun; Jupiter, 12.5 m/s. Motion and shift exaggerated so they can be seen.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A single line is noise; adding thousands, the error drops as 1/√N</a:t>
            </a:r>
          </a:p>
        </p:txBody>
      </p:sp>
      <p:pic>
        <p:nvPicPr>
          <p:cNvPr id="3" name="Picture 2" descr="estatico_lineas.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889" y="1714500"/>
            <a:ext cx="7902222" cy="444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9AA8BA"/>
                </a:solidFill>
                <a:latin typeface="Calibri"/>
              </a:rPr>
              <a:t>Source: Simulation with identical Gaussian lines and photon noise; these are not real lines. The velocity error drops as 1/√N: with 2000 lines, about 45 times smaller.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Together, the two signals tell what the planet is made 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10668000" cy="444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EEF2F7"/>
                </a:solidFill>
                <a:latin typeface="Calibri"/>
              </a:rPr>
              <a:t>•  </a:t>
            </a:r>
            <a:r>
              <a:rPr sz="2100" b="1">
                <a:solidFill>
                  <a:srgbClr val="F5A623"/>
                </a:solidFill>
                <a:latin typeface="Calibri"/>
              </a:rPr>
              <a:t>The shadow gives the size:</a:t>
            </a:r>
            <a:r>
              <a:rPr sz="2100" b="0">
                <a:solidFill>
                  <a:srgbClr val="EEF2F7"/>
                </a:solidFill>
                <a:latin typeface="Calibri"/>
              </a:rPr>
              <a:t> the depth is (R_planet / R_star)².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EEF2F7"/>
                </a:solidFill>
                <a:latin typeface="Calibri"/>
              </a:rPr>
              <a:t>•  </a:t>
            </a:r>
            <a:r>
              <a:rPr sz="2100" b="1">
                <a:solidFill>
                  <a:srgbClr val="F5A623"/>
                </a:solidFill>
                <a:latin typeface="Calibri"/>
              </a:rPr>
              <a:t>The wobble gives the mass</a:t>
            </a:r>
            <a:r>
              <a:rPr sz="2100" b="0">
                <a:solidFill>
                  <a:srgbClr val="EEF2F7"/>
                </a:solidFill>
                <a:latin typeface="Calibri"/>
              </a:rPr>
              <a:t> (the minimum: it depends on the orbit's inclination).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EEF2F7"/>
                </a:solidFill>
                <a:latin typeface="Calibri"/>
              </a:rPr>
              <a:t>•  </a:t>
            </a:r>
            <a:r>
              <a:rPr sz="2100" b="1">
                <a:solidFill>
                  <a:srgbClr val="F5A623"/>
                </a:solidFill>
                <a:latin typeface="Calibri"/>
              </a:rPr>
              <a:t>Size and mass give the density:</a:t>
            </a:r>
            <a:r>
              <a:rPr sz="2100" b="0">
                <a:solidFill>
                  <a:srgbClr val="EEF2F7"/>
                </a:solidFill>
                <a:latin typeface="Calibri"/>
              </a:rPr>
              <a:t> rock like Earth or gas like Jupiter.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9AA8BA"/>
                </a:solidFill>
                <a:latin typeface="Calibri"/>
              </a:rPr>
              <a:t>Source: Standard relations of the transit and radial-velocity methods.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Finding another Earth means signals more than a hundred times smaller than a Jupiter's</a:t>
            </a:r>
          </a:p>
        </p:txBody>
      </p:sp>
      <p:pic>
        <p:nvPicPr>
          <p:cNvPr id="3" name="Picture 2" descr="estatico_escala.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889" y="1714500"/>
            <a:ext cx="7902222" cy="444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9AA8BA"/>
                </a:solidFill>
                <a:latin typeface="Calibri"/>
              </a:rPr>
              <a:t>Source: Own computation: velocity (Kepler) 12.5 m/s vs 8.9 cm/s, ÷139; depth (IAU 2015) 1.06 % vs 84 ppm, ÷126. Logarithmic scales.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This talk is a text script, five scenes and a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10668000" cy="444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EEF2F7"/>
                </a:solidFill>
                <a:latin typeface="Calibri"/>
              </a:rPr>
              <a:t>•  </a:t>
            </a:r>
            <a:r>
              <a:rPr sz="2100" b="1">
                <a:solidFill>
                  <a:srgbClr val="F5A623"/>
                </a:solidFill>
                <a:latin typeface="Calibri"/>
              </a:rPr>
              <a:t>guion.en.md</a:t>
            </a:r>
            <a:r>
              <a:rPr sz="2100" b="0">
                <a:solidFill>
                  <a:srgbClr val="EEF2F7"/>
                </a:solidFill>
                <a:latin typeface="Calibri"/>
              </a:rPr>
              <a:t> (and guion.md): one conclusion-title per slide, with its source and notes.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EEF2F7"/>
                </a:solidFill>
                <a:latin typeface="Calibri"/>
              </a:rPr>
              <a:t>•  </a:t>
            </a:r>
            <a:r>
              <a:rPr sz="2100" b="1">
                <a:solidFill>
                  <a:srgbClr val="F5A623"/>
                </a:solidFill>
                <a:latin typeface="Calibri"/>
              </a:rPr>
              <a:t>animaciones.js:</a:t>
            </a:r>
            <a:r>
              <a:rPr sz="2100" b="0">
                <a:solidFill>
                  <a:srgbClr val="EEF2F7"/>
                </a:solidFill>
                <a:latin typeface="Calibri"/>
              </a:rPr>
              <a:t> five scenes built with K.escena, one state per step.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EEF2F7"/>
                </a:solidFill>
                <a:latin typeface="Calibri"/>
              </a:rPr>
              <a:t>•  </a:t>
            </a:r>
            <a:r>
              <a:rPr sz="2100" b="1">
                <a:solidFill>
                  <a:srgbClr val="F5A623"/>
                </a:solidFill>
                <a:latin typeface="Calibri"/>
              </a:rPr>
              <a:t>noche profile:</a:t>
            </a:r>
            <a:r>
              <a:rPr sz="2100" b="0">
                <a:solidFill>
                  <a:srgbClr val="EEF2F7"/>
                </a:solidFill>
                <a:latin typeface="Calibri"/>
              </a:rPr>
              <a:t> colors and fonts; kit.py build produces the HTML and the .pptx.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9AA8BA"/>
                </a:solidFill>
                <a:latin typeface="Calibri"/>
              </a:rPr>
              <a:t>Source: kit-presentaciones: motor/kit.py, motor/anim.js, perfiles/noche.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10668000" cy="46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</a:pPr>
            <a:r>
              <a:rPr sz="1400" b="0">
                <a:solidFill>
                  <a:srgbClr val="EEF2F7"/>
                </a:solidFill>
                <a:latin typeface="Calibri"/>
              </a:rPr>
              <a:t>•  Nominal radii: IAU 2015 Resolution B3 (Sun 695,700 km; Earth equatorial 6,378.1 km; Jupiter equatorial 71,492 km).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EEF2F7"/>
                </a:solidFill>
                <a:latin typeface="Calibri"/>
              </a:rPr>
              <a:t>•  Masses: Sun 1.989 × 10³⁰ kg; Earth 5.972 × 10²⁴ kg; Jupiter 1.898 × 10²⁷ kg. G = 6.674 × 10⁻¹¹ m³ kg⁻¹ s⁻².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EEF2F7"/>
                </a:solidFill>
                <a:latin typeface="Calibri"/>
              </a:rPr>
              <a:t>•  Induced velocity: Kepler's third law for a circular orbit.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EEF2F7"/>
                </a:solidFill>
                <a:latin typeface="Calibri"/>
              </a:rPr>
              <a:t>•  Everything is computed in animaciones.js; the animations exaggerate motion so it can be seen.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9AA8BA"/>
                </a:solidFill>
                <a:latin typeface="Calibri"/>
              </a:rPr>
              <a:t>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find a planet you cannot see</dc:title>
  <dc:subject/>
  <dc:creator>kit-presentaciones · expressive example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